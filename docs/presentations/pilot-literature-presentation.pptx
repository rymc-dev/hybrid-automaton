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50" d="100"/>
          <a:sy n="50" d="100"/>
        </p:scale>
        <p:origin x="29" y="8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A89F0-D660-4646-8808-1EBD01BE7D3D}" type="datetimeFigureOut">
              <a:rPr lang="en-GB" smtClean="0"/>
              <a:t>05/03/2026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142B1-D21C-4F4B-8492-29FA6680D9F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522504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A89F0-D660-4646-8808-1EBD01BE7D3D}" type="datetimeFigureOut">
              <a:rPr lang="en-GB" smtClean="0"/>
              <a:t>05/03/2026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142B1-D21C-4F4B-8492-29FA6680D9F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19962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A89F0-D660-4646-8808-1EBD01BE7D3D}" type="datetimeFigureOut">
              <a:rPr lang="en-GB" smtClean="0"/>
              <a:t>05/03/2026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142B1-D21C-4F4B-8492-29FA6680D9F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661261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A89F0-D660-4646-8808-1EBD01BE7D3D}" type="datetimeFigureOut">
              <a:rPr lang="en-GB" smtClean="0"/>
              <a:t>05/03/2026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142B1-D21C-4F4B-8492-29FA6680D9F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81046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A89F0-D660-4646-8808-1EBD01BE7D3D}" type="datetimeFigureOut">
              <a:rPr lang="en-GB" smtClean="0"/>
              <a:t>05/03/2026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142B1-D21C-4F4B-8492-29FA6680D9F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599445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A89F0-D660-4646-8808-1EBD01BE7D3D}" type="datetimeFigureOut">
              <a:rPr lang="en-GB" smtClean="0"/>
              <a:t>05/03/2026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142B1-D21C-4F4B-8492-29FA6680D9F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312870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A89F0-D660-4646-8808-1EBD01BE7D3D}" type="datetimeFigureOut">
              <a:rPr lang="en-GB" smtClean="0"/>
              <a:t>05/03/2026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142B1-D21C-4F4B-8492-29FA6680D9F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97960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A89F0-D660-4646-8808-1EBD01BE7D3D}" type="datetimeFigureOut">
              <a:rPr lang="en-GB" smtClean="0"/>
              <a:t>05/03/2026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142B1-D21C-4F4B-8492-29FA6680D9F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06748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A89F0-D660-4646-8808-1EBD01BE7D3D}" type="datetimeFigureOut">
              <a:rPr lang="en-GB" smtClean="0"/>
              <a:t>05/03/2026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142B1-D21C-4F4B-8492-29FA6680D9F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46237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A89F0-D660-4646-8808-1EBD01BE7D3D}" type="datetimeFigureOut">
              <a:rPr lang="en-GB" smtClean="0"/>
              <a:t>05/03/2026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142B1-D21C-4F4B-8492-29FA6680D9F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92954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A89F0-D660-4646-8808-1EBD01BE7D3D}" type="datetimeFigureOut">
              <a:rPr lang="en-GB" smtClean="0"/>
              <a:t>05/03/2026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142B1-D21C-4F4B-8492-29FA6680D9FE}" type="slidenum">
              <a:rPr lang="en-GB" smtClean="0"/>
              <a:t>‹#›</a:t>
            </a:fld>
            <a:endParaRPr lang="en-GB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394263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A89F0-D660-4646-8808-1EBD01BE7D3D}" type="datetimeFigureOut">
              <a:rPr lang="en-GB" smtClean="0"/>
              <a:t>05/03/2026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142B1-D21C-4F4B-8492-29FA6680D9F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98751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A89F0-D660-4646-8808-1EBD01BE7D3D}" type="datetimeFigureOut">
              <a:rPr lang="en-GB" smtClean="0"/>
              <a:t>05/03/2026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142B1-D21C-4F4B-8492-29FA6680D9FE}" type="slidenum">
              <a:rPr lang="en-GB" smtClean="0"/>
              <a:t>‹#›</a:t>
            </a:fld>
            <a:endParaRPr lang="en-GB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809803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A89F0-D660-4646-8808-1EBD01BE7D3D}" type="datetimeFigureOut">
              <a:rPr lang="en-GB" smtClean="0"/>
              <a:t>05/03/2026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142B1-D21C-4F4B-8492-29FA6680D9F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93576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A89F0-D660-4646-8808-1EBD01BE7D3D}" type="datetimeFigureOut">
              <a:rPr lang="en-GB" smtClean="0"/>
              <a:t>05/03/2026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142B1-D21C-4F4B-8492-29FA6680D9F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672205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A89F0-D660-4646-8808-1EBD01BE7D3D}" type="datetimeFigureOut">
              <a:rPr lang="en-GB" smtClean="0"/>
              <a:t>05/03/2026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142B1-D21C-4F4B-8492-29FA6680D9F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267293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CA89F0-D660-4646-8808-1EBD01BE7D3D}" type="datetimeFigureOut">
              <a:rPr lang="en-GB" smtClean="0"/>
              <a:t>05/03/2026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497142B1-D21C-4F4B-8492-29FA6680D9F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860502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eg"/><Relationship Id="rId4" Type="http://schemas.openxmlformats.org/officeDocument/2006/relationships/hyperlink" Target="https://www.sciencedirect.com/topics/computer-science/hybrid-automaton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D2626-CB5F-2D4C-8B89-4B417DF4542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sz="2800" dirty="0"/>
              <a:t>Standardizing Hybrid Automata: From Theoretical Foundations to Real-World Implementation Frameworks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CD3B3A-C477-2C74-7A19-F30D50D22D4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088336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67E254-6A92-89EC-9AEC-2A63A670DD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Are Hybrid Automata?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45BE37-F676-D5D8-C6C6-5B115AB3AE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0015" y="2580360"/>
            <a:ext cx="8596668" cy="3880773"/>
          </a:xfrm>
        </p:spPr>
        <p:txBody>
          <a:bodyPr>
            <a:normAutofit fontScale="92500" lnSpcReduction="10000"/>
          </a:bodyPr>
          <a:lstStyle/>
          <a:p>
            <a:r>
              <a:rPr lang="en-GB" dirty="0"/>
              <a:t>Formal Models for dynamical systems that combine discrete modes with continuous dynamics</a:t>
            </a:r>
          </a:p>
          <a:p>
            <a:r>
              <a:rPr lang="en-GB" dirty="0"/>
              <a:t>Extends the Functionality of the common Finite State Machine allowing us to solve real world physical problems with discrete control modes of operations which are transitioned by defined conditions</a:t>
            </a:r>
          </a:p>
          <a:p>
            <a:r>
              <a:rPr lang="en-GB" dirty="0"/>
              <a:t>Widely used within research and industry with 100s of papers every single year being produced on it with conferences like HSCC (Hybrid Systems: Computation and Control dedicated to it. </a:t>
            </a:r>
          </a:p>
          <a:p>
            <a:r>
              <a:rPr lang="en-GB" dirty="0"/>
              <a:t>for defining high level control of industrial robotics, autonomous navigation and embedded systems control.</a:t>
            </a:r>
          </a:p>
          <a:p>
            <a:r>
              <a:rPr lang="en-GB" dirty="0"/>
              <a:t>It provides a model for modelling complex behaviours in a interpretable way as an alternative to commonly used AI deep learning methods which are essentially black </a:t>
            </a:r>
            <a:r>
              <a:rPr lang="en-GB" dirty="0" err="1"/>
              <a:t>boxeswhich</a:t>
            </a:r>
            <a:r>
              <a:rPr lang="en-GB" dirty="0"/>
              <a:t> are hard to regulate because of </a:t>
            </a:r>
            <a:r>
              <a:rPr lang="en-GB" dirty="0" err="1"/>
              <a:t>potentatial</a:t>
            </a:r>
            <a:r>
              <a:rPr lang="en-GB" dirty="0"/>
              <a:t> of emergent undefined dangerous </a:t>
            </a:r>
            <a:r>
              <a:rPr lang="en-GB" dirty="0" err="1"/>
              <a:t>bbehaviours</a:t>
            </a:r>
            <a:r>
              <a:rPr lang="en-GB" dirty="0"/>
              <a:t> occurring. </a:t>
            </a:r>
          </a:p>
          <a:p>
            <a:endParaRPr lang="en-GB" dirty="0"/>
          </a:p>
          <a:p>
            <a:endParaRPr lang="en-GB" dirty="0"/>
          </a:p>
        </p:txBody>
      </p:sp>
      <p:pic>
        <p:nvPicPr>
          <p:cNvPr id="1026" name="Picture 2" descr="Hydrofoil Passenger Ferry | Artemis EF-24 Passenger">
            <a:extLst>
              <a:ext uri="{FF2B5EF4-FFF2-40B4-BE49-F238E27FC236}">
                <a16:creationId xmlns:a16="http://schemas.microsoft.com/office/drawing/2014/main" id="{E0405C0C-BEDA-CFEA-191D-D1F7A6EF24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2335" y="5142653"/>
            <a:ext cx="3315653" cy="22114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ybrid Automaton - an overview | ScienceDirect Topics">
            <a:extLst>
              <a:ext uri="{FF2B5EF4-FFF2-40B4-BE49-F238E27FC236}">
                <a16:creationId xmlns:a16="http://schemas.microsoft.com/office/drawing/2014/main" id="{F7313C4C-A9C2-03BF-8ECA-AEEA633B88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1938" y="4284720"/>
            <a:ext cx="3590925" cy="1504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17C9EDE-8F15-382C-1F7D-C4AA426A5274}"/>
              </a:ext>
            </a:extLst>
          </p:cNvPr>
          <p:cNvSpPr txBox="1"/>
          <p:nvPr/>
        </p:nvSpPr>
        <p:spPr>
          <a:xfrm>
            <a:off x="8130540" y="137283"/>
            <a:ext cx="400175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Hybrid Automata Image: </a:t>
            </a:r>
            <a:r>
              <a:rPr lang="en-GB" dirty="0">
                <a:hlinkClick r:id="rId4"/>
              </a:rPr>
              <a:t>https://www.sciencedirect.com/topics/computer-science/hybrid-automaton</a:t>
            </a:r>
            <a:endParaRPr lang="en-GB" dirty="0"/>
          </a:p>
          <a:p>
            <a:r>
              <a:rPr lang="en-GB" dirty="0"/>
              <a:t>Robot Arm Image: https://www.lgt.com/li-en/market-assessments/insights/investment-strategies/the-transformative-force-of-industrial-automation-251896</a:t>
            </a:r>
          </a:p>
          <a:p>
            <a:r>
              <a:rPr lang="en-GB" dirty="0"/>
              <a:t>Artemis EF12: https://www.artemistechnologies.co.uk/</a:t>
            </a:r>
          </a:p>
        </p:txBody>
      </p:sp>
      <p:pic>
        <p:nvPicPr>
          <p:cNvPr id="1032" name="Picture 8" descr="Automation and robotics: Exploring new ...">
            <a:extLst>
              <a:ext uri="{FF2B5EF4-FFF2-40B4-BE49-F238E27FC236}">
                <a16:creationId xmlns:a16="http://schemas.microsoft.com/office/drawing/2014/main" id="{6937C8F8-68F8-CDCD-8816-FE88DDEACC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2300" y="427037"/>
            <a:ext cx="2705100" cy="1685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095258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8FBA6C-4C70-E639-4683-4D9731387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Why do we care about Hybrid Automata?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4EF658-6609-DD4F-DCD9-4EF6BB94D9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76051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C35D8B-7533-5F4F-5A1A-76D4C58C22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Current bottlenecks in the industry and research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5D8703-B9B0-13C8-B426-B5C5A175FE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Although tools exist for reachability analysis of defined </a:t>
            </a:r>
            <a:r>
              <a:rPr lang="en-GB" dirty="0" err="1"/>
              <a:t>automtaton</a:t>
            </a:r>
            <a:r>
              <a:rPr lang="en-GB" dirty="0"/>
              <a:t>, these are quite difficult to use most of the time and don’t always have very good documentation, </a:t>
            </a:r>
          </a:p>
          <a:p>
            <a:r>
              <a:rPr lang="en-GB" dirty="0"/>
              <a:t>Therefore we </a:t>
            </a:r>
            <a:r>
              <a:rPr lang="en-GB" dirty="0" err="1"/>
              <a:t>discusss</a:t>
            </a:r>
            <a:r>
              <a:rPr lang="en-GB" dirty="0"/>
              <a:t> the importance of creating a unified framework .</a:t>
            </a:r>
          </a:p>
        </p:txBody>
      </p:sp>
    </p:spTree>
    <p:extLst>
      <p:ext uri="{BB962C8B-B14F-4D97-AF65-F5344CB8AC3E}">
        <p14:creationId xmlns:p14="http://schemas.microsoft.com/office/powerpoint/2010/main" val="30747476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BE8811-0DF1-51EB-F4DE-97FC3DCA56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Work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C2C053-77A1-FF8C-221F-DF4DE1141E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Hybrid automaton framework in python, and a automaton modelling language that developers can use to convert there theoretical definitions of automaton into real world usable and testable applications. </a:t>
            </a:r>
          </a:p>
        </p:txBody>
      </p:sp>
    </p:spTree>
    <p:extLst>
      <p:ext uri="{BB962C8B-B14F-4D97-AF65-F5344CB8AC3E}">
        <p14:creationId xmlns:p14="http://schemas.microsoft.com/office/powerpoint/2010/main" val="25575987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3163C3-3767-0C30-8685-4A477A4627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Conclusions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EB7215-B242-309B-8147-C5F94F5E75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53804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4E6FB9-DF55-E2F3-797A-92DEDE8276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E79FC9-D035-87F9-373C-E7EE3BF7F2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/>
              <a:t>j</a:t>
            </a:r>
          </a:p>
        </p:txBody>
      </p:sp>
    </p:spTree>
    <p:extLst>
      <p:ext uri="{BB962C8B-B14F-4D97-AF65-F5344CB8AC3E}">
        <p14:creationId xmlns:p14="http://schemas.microsoft.com/office/powerpoint/2010/main" val="104900937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25</TotalTime>
  <Words>286</Words>
  <Application>Microsoft Office PowerPoint</Application>
  <PresentationFormat>Widescreen</PresentationFormat>
  <Paragraphs>19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Trebuchet MS</vt:lpstr>
      <vt:lpstr>Wingdings 3</vt:lpstr>
      <vt:lpstr>Facet</vt:lpstr>
      <vt:lpstr>Standardizing Hybrid Automata: From Theoretical Foundations to Real-World Implementation Frameworks</vt:lpstr>
      <vt:lpstr>What Are Hybrid Automata? </vt:lpstr>
      <vt:lpstr>Why do we care about Hybrid Automata? </vt:lpstr>
      <vt:lpstr>Current bottlenecks in the industry and research </vt:lpstr>
      <vt:lpstr>Work </vt:lpstr>
      <vt:lpstr>Conclusions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McKee, Ryan [sgrmckee]</dc:creator>
  <cp:lastModifiedBy>McKee, Ryan [sgrmckee]</cp:lastModifiedBy>
  <cp:revision>2</cp:revision>
  <dcterms:created xsi:type="dcterms:W3CDTF">2026-03-05T12:27:04Z</dcterms:created>
  <dcterms:modified xsi:type="dcterms:W3CDTF">2026-03-05T12:52:16Z</dcterms:modified>
</cp:coreProperties>
</file>